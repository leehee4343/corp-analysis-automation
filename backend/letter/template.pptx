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9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○○○○(주)</c:v>
                </c:pt>
              </c:strCache>
            </c:strRef>
          </c:tx>
          <c:spPr>
            <a:ln w="25400" cap="flat">
              <a:solidFill>
                <a:srgbClr val="1E8C5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8C5A"/>
              </a:solidFill>
              <a:ln w="9525" cap="flat">
                <a:solidFill>
                  <a:srgbClr val="1E8C5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성장성(양호)</c:v>
                </c:pt>
                <c:pt idx="1">
                  <c:v>수익성(양호)</c:v>
                </c:pt>
                <c:pt idx="2">
                  <c:v>재무구조(보통 이하)</c:v>
                </c:pt>
                <c:pt idx="3">
                  <c:v>부채상환능력(양호)</c:v>
                </c:pt>
                <c:pt idx="4">
                  <c:v>활동성(양호)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70.0</c:v>
                </c:pt>
                <c:pt idx="1">
                  <c:v>70.0</c:v>
                </c:pt>
                <c:pt idx="2">
                  <c:v>40.0</c:v>
                </c:pt>
                <c:pt idx="3">
                  <c:v>70.0</c:v>
                </c:pt>
                <c:pt idx="4">
                  <c:v>70.0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동종업종 평균</c:v>
                </c:pt>
              </c:strCache>
            </c:strRef>
          </c:tx>
          <c:spPr>
            <a:ln w="25400" cap="flat">
              <a:solidFill>
                <a:srgbClr val="7A6FB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7A6FB8"/>
              </a:solidFill>
              <a:ln w="9525" cap="flat">
                <a:solidFill>
                  <a:srgbClr val="7A6FB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성장성(양호)</c:v>
                </c:pt>
                <c:pt idx="1">
                  <c:v>수익성(양호)</c:v>
                </c:pt>
                <c:pt idx="2">
                  <c:v>재무구조(보통 이하)</c:v>
                </c:pt>
                <c:pt idx="3">
                  <c:v>부채상환능력(양호)</c:v>
                </c:pt>
                <c:pt idx="4">
                  <c:v>활동성(양호)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50.0</c:v>
                </c:pt>
                <c:pt idx="1">
                  <c:v>50.0</c:v>
                </c:pt>
                <c:pt idx="2">
                  <c:v>50.0</c:v>
                </c:pt>
                <c:pt idx="3">
                  <c:v>50.0</c:v>
                </c:pt>
                <c:pt idx="4">
                  <c:v>50.0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5800936"/>
        <c:axId val="345797016"/>
      </c:radarChart>
      <c:catAx>
        <c:axId val="345800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E2430"/>
                </a:solidFill>
                <a:latin typeface="+mn-lt"/>
              </a:defRPr>
            </a:pPr>
            <a:endParaRPr lang="ko-KR"/>
          </a:p>
        </c:txPr>
        <c:crossAx val="345797016"/>
        <c:crosses val="autoZero"/>
        <c:auto val="1"/>
        <c:lblAlgn val="ctr"/>
        <c:lblOffset val="100"/>
        <c:noMultiLvlLbl val="1"/>
      </c:catAx>
      <c:valAx>
        <c:axId val="345797016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D7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345800936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99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23544" y="365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50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FARMSCOPE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64008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250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AGRI BUSINESS PARTNER</a:t>
            </a:r>
            <a:endParaRPr lang="en-US" sz="650" dirty="0"/>
          </a:p>
        </p:txBody>
      </p:sp>
      <p:sp>
        <p:nvSpPr>
          <p:cNvPr id="5" name="Text 2"/>
          <p:cNvSpPr txBox="1"/>
          <p:nvPr/>
        </p:nvSpPr>
        <p:spPr>
          <a:xfrm>
            <a:off x="4736592" y="365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4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농업의 가치를,</a:t>
            </a:r>
            <a:endParaRPr lang="en-US" sz="105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4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성장으로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9496" y="960120"/>
            <a:ext cx="6483096" cy="0"/>
          </a:xfrm>
          <a:prstGeom prst="line">
            <a:avLst/>
          </a:prstGeom>
          <a:noFill/>
          <a:ln w="19050">
            <a:solidFill>
              <a:srgbClr val="1632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05156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문서번호</a:t>
            </a:r>
            <a:endParaRPr lang="en-US" sz="1020" dirty="0"/>
          </a:p>
        </p:txBody>
      </p:sp>
      <p:sp>
        <p:nvSpPr>
          <p:cNvPr id="8" name="Text 5"/>
          <p:cNvSpPr txBox="1"/>
          <p:nvPr/>
        </p:nvSpPr>
        <p:spPr>
          <a:xfrm>
            <a:off x="1316736" y="1051560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FS-2026-1007-A02</a:t>
            </a:r>
            <a:endParaRPr lang="en-US" sz="1020" dirty="0"/>
          </a:p>
        </p:txBody>
      </p:sp>
      <p:sp>
        <p:nvSpPr>
          <p:cNvPr id="9" name="Text 6"/>
          <p:cNvSpPr txBox="1"/>
          <p:nvPr/>
        </p:nvSpPr>
        <p:spPr>
          <a:xfrm>
            <a:off x="539496" y="1298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시행일자</a:t>
            </a:r>
            <a:endParaRPr lang="en-US" sz="1020" dirty="0"/>
          </a:p>
        </p:txBody>
      </p:sp>
      <p:sp>
        <p:nvSpPr>
          <p:cNvPr id="10" name="Text 7"/>
          <p:cNvSpPr txBox="1"/>
          <p:nvPr/>
        </p:nvSpPr>
        <p:spPr>
          <a:xfrm>
            <a:off x="1316736" y="1298448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2026. 10. 7.</a:t>
            </a:r>
            <a:endParaRPr lang="en-US" sz="1020" dirty="0"/>
          </a:p>
        </p:txBody>
      </p:sp>
      <p:sp>
        <p:nvSpPr>
          <p:cNvPr id="11" name="Text 8"/>
          <p:cNvSpPr txBox="1"/>
          <p:nvPr/>
        </p:nvSpPr>
        <p:spPr>
          <a:xfrm>
            <a:off x="539496" y="15453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   신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1316736" y="1545336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○○○○(주)</a:t>
            </a:r>
            <a:r>
              <a:rPr lang="en-US" sz="102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대표이사 ○○○ 귀하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539496" y="179222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   목</a:t>
            </a:r>
            <a:endParaRPr lang="en-US" sz="1020" dirty="0"/>
          </a:p>
        </p:txBody>
      </p:sp>
      <p:sp>
        <p:nvSpPr>
          <p:cNvPr id="14" name="Text 11"/>
          <p:cNvSpPr txBox="1"/>
          <p:nvPr/>
        </p:nvSpPr>
        <p:spPr>
          <a:xfrm>
            <a:off x="1316736" y="1792224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경상북도 농어촌진흥기금 지원사업 사전검토 결과 안내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539496" y="2130552"/>
            <a:ext cx="6483096" cy="0"/>
          </a:xfrm>
          <a:prstGeom prst="line">
            <a:avLst/>
          </a:prstGeom>
          <a:noFill/>
          <a:ln w="9525">
            <a:solidFill>
              <a:srgbClr val="9FB0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9496" y="2331720"/>
            <a:ext cx="6483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귀사의 무궁한 발전을 기원합니다.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귀사의 공개 기업정보를 검토한 결과, 현재 접수 중인 </a:t>
            </a:r>
            <a:r>
              <a:rPr lang="en-US" sz="1050" b="1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「2027년도 경상북도 농어촌진흥기금 지원사업」</a:t>
            </a:r>
            <a:r>
              <a:rPr lang="en-US" sz="105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(경상북도 공고 제2026-1746호)의 신청 요건에 해당할 가능성이 있어 주요 내용과 검토 결과를 안내드립니다.</a:t>
            </a:r>
            <a:endParaRPr lang="en-US" sz="1050" dirty="0"/>
          </a:p>
        </p:txBody>
      </p:sp>
      <p:sp>
        <p:nvSpPr>
          <p:cNvPr id="17" name="onestop-callout"/>
          <p:cNvSpPr/>
          <p:nvPr/>
        </p:nvSpPr>
        <p:spPr>
          <a:xfrm>
            <a:off x="539496" y="3310128"/>
            <a:ext cx="6483096" cy="932688"/>
          </a:xfrm>
          <a:prstGeom prst="roundRect">
            <a:avLst>
              <a:gd name="adj" fmla="val 7843"/>
            </a:avLst>
          </a:prstGeom>
          <a:solidFill>
            <a:srgbClr val="EAF5EE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502152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45336" y="3419856"/>
            <a:ext cx="5294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24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투자계획 수립부터 융자 실행까지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과정을 FARMSCOPE가 책임지고 수행</a:t>
            </a:r>
            <a:r>
              <a:rPr lang="en-US" sz="1300" b="1" dirty="0">
                <a:solidFill>
                  <a:srgbClr val="124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60" b="1" dirty="0">
                <a:solidFill>
                  <a:srgbClr val="3A5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 상황에 맞는 자금 구조를 설계하고, 선정 가능성을 높이기 위한 실무를 직접 진행합니다.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39496" y="4663440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16325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39496" y="46634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50976" y="464515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주요내용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3822192" y="4663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경상북도 공고 제2026-1746호</a:t>
            </a:r>
            <a:endParaRPr lang="en-US" sz="8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5138928"/>
            <a:ext cx="6483096" cy="9144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2104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2027년도 경상북도 농어촌진흥기금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" y="5687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3F2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도내 농어업 경쟁력 강화를 위한 저금리 융자 · 총 655억원</a:t>
            </a:r>
            <a:endParaRPr lang="en-US" sz="1000" dirty="0"/>
          </a:p>
        </p:txBody>
      </p:sp>
      <p:sp>
        <p:nvSpPr>
          <p:cNvPr id="27" name="stat-1"/>
          <p:cNvSpPr/>
          <p:nvPr/>
        </p:nvSpPr>
        <p:spPr>
          <a:xfrm>
            <a:off x="539496" y="6217920"/>
            <a:ext cx="1552194" cy="960120"/>
          </a:xfrm>
          <a:prstGeom prst="roundRect">
            <a:avLst>
              <a:gd name="adj" fmla="val 5714"/>
            </a:avLst>
          </a:prstGeom>
          <a:ln w="15875">
            <a:solidFill>
              <a:srgbClr val="CFE3D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9496" y="6336792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융자금리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539496" y="6528816"/>
            <a:ext cx="1552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1.0%</a:t>
            </a:r>
            <a:endParaRPr lang="en-US" sz="1900" dirty="0"/>
          </a:p>
        </p:txBody>
      </p:sp>
      <p:sp>
        <p:nvSpPr>
          <p:cNvPr id="30" name="Text 25"/>
          <p:cNvSpPr txBox="1"/>
          <p:nvPr/>
        </p:nvSpPr>
        <p:spPr>
          <a:xfrm>
            <a:off x="539496" y="6903720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시설·운영자금 동일</a:t>
            </a:r>
            <a:endParaRPr lang="en-US" sz="850" dirty="0"/>
          </a:p>
        </p:txBody>
      </p:sp>
      <p:sp>
        <p:nvSpPr>
          <p:cNvPr id="31" name="stat-2"/>
          <p:cNvSpPr/>
          <p:nvPr/>
        </p:nvSpPr>
        <p:spPr>
          <a:xfrm>
            <a:off x="2183130" y="6217920"/>
            <a:ext cx="1552194" cy="960120"/>
          </a:xfrm>
          <a:prstGeom prst="roundRect">
            <a:avLst>
              <a:gd name="adj" fmla="val 5714"/>
            </a:avLst>
          </a:prstGeom>
          <a:ln w="15875">
            <a:solidFill>
              <a:srgbClr val="CFE3D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183130" y="6336792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한도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2183130" y="6528816"/>
            <a:ext cx="1552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10억원</a:t>
            </a:r>
            <a:endParaRPr lang="en-US" sz="1900" dirty="0"/>
          </a:p>
        </p:txBody>
      </p:sp>
      <p:sp>
        <p:nvSpPr>
          <p:cNvPr id="34" name="Text 29"/>
          <p:cNvSpPr txBox="1"/>
          <p:nvPr/>
        </p:nvSpPr>
        <p:spPr>
          <a:xfrm>
            <a:off x="2183130" y="6903720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스마트팜 조성 시 (일반 5억원)</a:t>
            </a:r>
            <a:endParaRPr lang="en-US" sz="850" dirty="0"/>
          </a:p>
        </p:txBody>
      </p:sp>
      <p:sp>
        <p:nvSpPr>
          <p:cNvPr id="35" name="stat-3"/>
          <p:cNvSpPr/>
          <p:nvPr/>
        </p:nvSpPr>
        <p:spPr>
          <a:xfrm>
            <a:off x="3826764" y="6217920"/>
            <a:ext cx="1552194" cy="960120"/>
          </a:xfrm>
          <a:prstGeom prst="roundRect">
            <a:avLst>
              <a:gd name="adj" fmla="val 5714"/>
            </a:avLst>
          </a:prstGeom>
          <a:ln w="15875">
            <a:solidFill>
              <a:srgbClr val="CFE3D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826764" y="6336792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상환기간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3826764" y="6528816"/>
            <a:ext cx="1552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최장 20년</a:t>
            </a:r>
            <a:endParaRPr lang="en-US" sz="1900" dirty="0"/>
          </a:p>
        </p:txBody>
      </p:sp>
      <p:sp>
        <p:nvSpPr>
          <p:cNvPr id="38" name="Text 33"/>
          <p:cNvSpPr txBox="1"/>
          <p:nvPr/>
        </p:nvSpPr>
        <p:spPr>
          <a:xfrm>
            <a:off x="3826764" y="6903720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스마트팜 시설 5년 거치 15년</a:t>
            </a:r>
            <a:endParaRPr lang="en-US" sz="850" dirty="0"/>
          </a:p>
        </p:txBody>
      </p:sp>
      <p:sp>
        <p:nvSpPr>
          <p:cNvPr id="39" name="stat-4"/>
          <p:cNvSpPr/>
          <p:nvPr/>
        </p:nvSpPr>
        <p:spPr>
          <a:xfrm>
            <a:off x="5470398" y="6217920"/>
            <a:ext cx="1552194" cy="960120"/>
          </a:xfrm>
          <a:prstGeom prst="roundRect">
            <a:avLst>
              <a:gd name="adj" fmla="val 5714"/>
            </a:avLst>
          </a:prstGeom>
          <a:ln w="15875">
            <a:solidFill>
              <a:srgbClr val="CFE3D6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470398" y="6336792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마감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5470398" y="6528816"/>
            <a:ext cx="1552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27.(화)</a:t>
            </a:r>
            <a:endParaRPr lang="en-US" sz="1900" dirty="0"/>
          </a:p>
        </p:txBody>
      </p:sp>
      <p:sp>
        <p:nvSpPr>
          <p:cNvPr id="42" name="Text 37"/>
          <p:cNvSpPr txBox="1"/>
          <p:nvPr/>
        </p:nvSpPr>
        <p:spPr>
          <a:xfrm>
            <a:off x="5470398" y="6903720"/>
            <a:ext cx="1552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2026. 9. 21.부터</a:t>
            </a:r>
            <a:endParaRPr lang="en-US" sz="8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7379208"/>
          <a:ext cx="6483096" cy="1609344"/>
        </p:xfrm>
        <a:graphic>
          <a:graphicData uri="http://schemas.openxmlformats.org/drawingml/2006/table">
            <a:tbl>
              <a:tblPr/>
              <a:tblGrid>
                <a:gridCol w="914400"/>
                <a:gridCol w="5568696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경상북도에 주소·사업장을 둔 농어업인, 영농조합·농업회사법인 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지원용도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 신·증축 및 개보수, 시설·설비 구축, 대형 농기계, 스마트팜 조성 </a:t>
                      </a:r>
                      <a:r>
                        <a:rPr lang="en-US" sz="920" dirty="0">
                          <a:solidFill>
                            <a:srgbClr val="5A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(운영자금도 가능)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상환조건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시설자금 </a:t>
                      </a:r>
                      <a:r>
                        <a:rPr lang="en-US" sz="1000" b="1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3년 거치 7년</a:t>
                      </a:r>
                      <a:r>
                        <a:rPr lang="en-US" sz="100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000" b="1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스마트팜 5년 거치 15년</a:t>
                      </a:r>
                      <a:r>
                        <a:rPr lang="en-US" sz="100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균분상환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신청방법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주소지 읍면동 또는 시군 농업정책 부서 </a:t>
                      </a:r>
                      <a:r>
                        <a:rPr lang="en-US" sz="920" dirty="0">
                          <a:solidFill>
                            <a:srgbClr val="5A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(농·축협 신용조사의견서 첨부)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8016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9189720"/>
            <a:ext cx="237744" cy="237744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86968" y="9153144"/>
            <a:ext cx="613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융자는 사업 완료 후 담보력 범위에서 실행</a:t>
            </a:r>
            <a:r>
              <a:rPr lang="en-US" sz="95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됩니다(시군 인정 시 기성고 선대출 가능).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임차·매입, 보조사업 자부담 충당 등은 지원이 제한되며, 법인은 </a:t>
            </a:r>
            <a:r>
              <a:rPr lang="en-US" sz="9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사업장과 대표자 주소가 모두 도내</a:t>
            </a:r>
            <a:r>
              <a:rPr lang="en-US" sz="95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여야 합니다.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39496" y="10232136"/>
            <a:ext cx="6483096" cy="0"/>
          </a:xfrm>
          <a:prstGeom prst="line">
            <a:avLst/>
          </a:prstGeom>
          <a:noFill/>
          <a:ln w="9525">
            <a:solidFill>
              <a:srgbClr val="C9D3E0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39496" y="102778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FARMSCOPE</a:t>
            </a:r>
            <a:r>
              <a:rPr lang="en-US" sz="80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|  Agricultural Business Partner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5010912" y="10259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23544" y="365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50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FARMSCOPE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64008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250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AGRI BUSINESS PARTNER</a:t>
            </a:r>
            <a:endParaRPr lang="en-US" sz="650" dirty="0"/>
          </a:p>
        </p:txBody>
      </p:sp>
      <p:sp>
        <p:nvSpPr>
          <p:cNvPr id="5" name="Text 2"/>
          <p:cNvSpPr txBox="1"/>
          <p:nvPr/>
        </p:nvSpPr>
        <p:spPr>
          <a:xfrm>
            <a:off x="3364992" y="429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2027년도 경상북도 농어촌진흥기금 사전검토 결과서</a:t>
            </a:r>
            <a:endParaRPr lang="en-US" sz="960" dirty="0"/>
          </a:p>
        </p:txBody>
      </p:sp>
      <p:sp>
        <p:nvSpPr>
          <p:cNvPr id="6" name="Shape 3"/>
          <p:cNvSpPr/>
          <p:nvPr/>
        </p:nvSpPr>
        <p:spPr>
          <a:xfrm>
            <a:off x="539496" y="896112"/>
            <a:ext cx="6483096" cy="0"/>
          </a:xfrm>
          <a:prstGeom prst="line">
            <a:avLst/>
          </a:prstGeom>
          <a:noFill/>
          <a:ln w="19050">
            <a:solidFill>
              <a:srgbClr val="1632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9496" y="10698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1632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10698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105156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귀사의 재무진단 요약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3822192" y="106984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KODATA · 2025년 결산 · 괄호: 전년 또는 업종평균</a:t>
            </a:r>
            <a:endParaRPr lang="en-US" sz="850" dirty="0"/>
          </a:p>
        </p:txBody>
      </p:sp>
      <p:sp>
        <p:nvSpPr>
          <p:cNvPr id="11" name="company-profile"/>
          <p:cNvSpPr/>
          <p:nvPr/>
        </p:nvSpPr>
        <p:spPr>
          <a:xfrm>
            <a:off x="539496" y="1536192"/>
            <a:ext cx="2157984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4088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○○○○(주)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" y="201168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주요사업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1307592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종자 및 묘목 생산업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704088" y="2258568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설립연도</a:t>
            </a:r>
            <a:endParaRPr lang="en-US" sz="940" dirty="0"/>
          </a:p>
        </p:txBody>
      </p:sp>
      <p:sp>
        <p:nvSpPr>
          <p:cNvPr id="16" name="Text 13"/>
          <p:cNvSpPr txBox="1"/>
          <p:nvPr/>
        </p:nvSpPr>
        <p:spPr>
          <a:xfrm>
            <a:off x="1307592" y="2258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 (업력 26년)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704088" y="2505456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4B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소재지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1307592" y="2505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경상북도 ○○군 ○○면</a:t>
            </a:r>
            <a:endParaRPr lang="en-US" sz="940" dirty="0"/>
          </a:p>
        </p:txBody>
      </p:sp>
      <p:graphicFrame>
        <p:nvGraphicFramePr>
          <p:cNvPr id="19" name="radar"/>
          <p:cNvGraphicFramePr/>
          <p:nvPr/>
        </p:nvGraphicFramePr>
        <p:xfrm>
          <a:off x="2788920" y="1325880"/>
          <a:ext cx="310896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━ </a:t>
            </a:r>
            <a:r>
              <a:rPr lang="en-US" sz="9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○○○○(주)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7A6F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╌ </a:t>
            </a:r>
            <a:r>
              <a:rPr lang="en-US" sz="9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동종업종 평균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4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KODATA 등급 환산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4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 70 · 보통 50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4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이하 40</a:t>
            </a:r>
            <a:endParaRPr lang="en-US" sz="900" dirty="0"/>
          </a:p>
        </p:txBody>
      </p:sp>
      <p:sp>
        <p:nvSpPr>
          <p:cNvPr id="21" name="kpi-1"/>
          <p:cNvSpPr/>
          <p:nvPr/>
        </p:nvSpPr>
        <p:spPr>
          <a:xfrm>
            <a:off x="539496" y="3072384"/>
            <a:ext cx="1238098" cy="841248"/>
          </a:xfrm>
          <a:prstGeom prst="rect">
            <a:avLst/>
          </a:prstGeom>
          <a:ln w="9525">
            <a:solidFill>
              <a:srgbClr val="D7DF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9496" y="3072384"/>
            <a:ext cx="1238098" cy="21945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39496" y="3072384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539496" y="3328416"/>
            <a:ext cx="1238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22.5</a:t>
            </a:r>
            <a:r>
              <a:rPr lang="en-US" sz="86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539496" y="3685032"/>
            <a:ext cx="12380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(23.9억 · −6.2%)</a:t>
            </a:r>
            <a:endParaRPr lang="en-US" sz="800" dirty="0"/>
          </a:p>
        </p:txBody>
      </p:sp>
      <p:sp>
        <p:nvSpPr>
          <p:cNvPr id="26" name="kpi-2"/>
          <p:cNvSpPr/>
          <p:nvPr/>
        </p:nvSpPr>
        <p:spPr>
          <a:xfrm>
            <a:off x="1850746" y="3072384"/>
            <a:ext cx="1238098" cy="841248"/>
          </a:xfrm>
          <a:prstGeom prst="rect">
            <a:avLst/>
          </a:prstGeom>
          <a:ln w="9525">
            <a:solidFill>
              <a:srgbClr val="D7DF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850746" y="3072384"/>
            <a:ext cx="1238098" cy="21945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850746" y="3072384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850746" y="3328416"/>
            <a:ext cx="1238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</a:t>
            </a:r>
            <a:r>
              <a:rPr lang="en-US" sz="86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1850746" y="3685032"/>
            <a:ext cx="12380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(2.73억 · −79.8%)</a:t>
            </a:r>
            <a:endParaRPr lang="en-US" sz="800" dirty="0"/>
          </a:p>
        </p:txBody>
      </p:sp>
      <p:sp>
        <p:nvSpPr>
          <p:cNvPr id="31" name="kpi-3"/>
          <p:cNvSpPr/>
          <p:nvPr/>
        </p:nvSpPr>
        <p:spPr>
          <a:xfrm>
            <a:off x="3161995" y="3072384"/>
            <a:ext cx="1238098" cy="841248"/>
          </a:xfrm>
          <a:prstGeom prst="rect">
            <a:avLst/>
          </a:prstGeom>
          <a:ln w="9525">
            <a:solidFill>
              <a:srgbClr val="D7DF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161995" y="3072384"/>
            <a:ext cx="1238098" cy="21945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3161995" y="3072384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부채비율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3161995" y="3328416"/>
            <a:ext cx="1238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120.1</a:t>
            </a:r>
            <a:r>
              <a:rPr lang="en-US" sz="86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1700" dirty="0"/>
          </a:p>
        </p:txBody>
      </p:sp>
      <p:sp>
        <p:nvSpPr>
          <p:cNvPr id="35" name="Text 31"/>
          <p:cNvSpPr txBox="1"/>
          <p:nvPr/>
        </p:nvSpPr>
        <p:spPr>
          <a:xfrm>
            <a:off x="3161995" y="3685032"/>
            <a:ext cx="12380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(업종 204.4%)</a:t>
            </a:r>
            <a:endParaRPr lang="en-US" sz="800" dirty="0"/>
          </a:p>
        </p:txBody>
      </p:sp>
      <p:sp>
        <p:nvSpPr>
          <p:cNvPr id="36" name="kpi-4"/>
          <p:cNvSpPr/>
          <p:nvPr/>
        </p:nvSpPr>
        <p:spPr>
          <a:xfrm>
            <a:off x="4473245" y="3072384"/>
            <a:ext cx="1238098" cy="841248"/>
          </a:xfrm>
          <a:prstGeom prst="rect">
            <a:avLst/>
          </a:prstGeom>
          <a:ln w="9525">
            <a:solidFill>
              <a:srgbClr val="D7DFE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73245" y="3072384"/>
            <a:ext cx="1238098" cy="21945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473245" y="3072384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유동비율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4473245" y="3328416"/>
            <a:ext cx="1238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56.9</a:t>
            </a:r>
            <a:r>
              <a:rPr lang="en-US" sz="86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4473245" y="3685032"/>
            <a:ext cx="12380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(업종 740.0%)</a:t>
            </a:r>
            <a:endParaRPr lang="en-US" sz="800" dirty="0"/>
          </a:p>
        </p:txBody>
      </p:sp>
      <p:sp>
        <p:nvSpPr>
          <p:cNvPr id="41" name="kpi-5"/>
          <p:cNvSpPr/>
          <p:nvPr/>
        </p:nvSpPr>
        <p:spPr>
          <a:xfrm>
            <a:off x="5784494" y="3072384"/>
            <a:ext cx="1238098" cy="841248"/>
          </a:xfrm>
          <a:prstGeom prst="rect">
            <a:avLst/>
          </a:prstGeom>
          <a:ln w="9525">
            <a:solidFill>
              <a:srgbClr val="D7DFE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784494" y="3072384"/>
            <a:ext cx="1238098" cy="21945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5784494" y="3072384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신용등급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5784494" y="3328416"/>
            <a:ext cx="1238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bb+</a:t>
            </a:r>
            <a:endParaRPr lang="en-US" sz="1700" dirty="0"/>
          </a:p>
        </p:txBody>
      </p:sp>
      <p:sp>
        <p:nvSpPr>
          <p:cNvPr id="45" name="Text 41"/>
          <p:cNvSpPr txBox="1"/>
          <p:nvPr/>
        </p:nvSpPr>
        <p:spPr>
          <a:xfrm>
            <a:off x="5784494" y="3685032"/>
            <a:ext cx="12380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(KODATA)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39496" y="4050792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16325C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539496" y="40507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950976" y="40325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지원조건 점검 결과</a:t>
            </a:r>
            <a:endParaRPr lang="en-US" sz="1450" dirty="0"/>
          </a:p>
        </p:txBody>
      </p:sp>
      <p:sp>
        <p:nvSpPr>
          <p:cNvPr id="49" name="Shape 45"/>
          <p:cNvSpPr/>
          <p:nvPr/>
        </p:nvSpPr>
        <p:spPr>
          <a:xfrm>
            <a:off x="6126480" y="4096512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6126480" y="409651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A328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보완 필요 1</a:t>
            </a:r>
            <a:endParaRPr lang="en-US" sz="840" dirty="0"/>
          </a:p>
        </p:txBody>
      </p:sp>
      <p:sp>
        <p:nvSpPr>
          <p:cNvPr id="51" name="Shape 47"/>
          <p:cNvSpPr/>
          <p:nvPr/>
        </p:nvSpPr>
        <p:spPr>
          <a:xfrm>
            <a:off x="5175504" y="4096512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FCEFD6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5175504" y="409651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확인 필요 3</a:t>
            </a:r>
            <a:endParaRPr lang="en-US" sz="840" dirty="0"/>
          </a:p>
        </p:txBody>
      </p:sp>
      <p:sp>
        <p:nvSpPr>
          <p:cNvPr id="53" name="Shape 49"/>
          <p:cNvSpPr/>
          <p:nvPr/>
        </p:nvSpPr>
        <p:spPr>
          <a:xfrm>
            <a:off x="4224528" y="4096512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4224528" y="409651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76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충족 2</a:t>
            </a:r>
            <a:endParaRPr lang="en-US" sz="84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4480560"/>
          <a:ext cx="6483096" cy="2112264"/>
        </p:xfrm>
        <a:graphic>
          <a:graphicData uri="http://schemas.openxmlformats.org/drawingml/2006/table">
            <a:tbl>
              <a:tblPr/>
              <a:tblGrid>
                <a:gridCol w="1078992"/>
                <a:gridCol w="2231136"/>
                <a:gridCol w="969264"/>
                <a:gridCol w="2203704"/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귀사 현황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자격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○○군 소재 농업회사법인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충족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 주소(도내)·경영체 등록 확인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재무·신용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부채비율 120% (업종 204%) · bb+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충족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농협 신용조사의견서 발급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 여력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재무상 여력 양호 (추정)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 확인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부동산·기존 담보 확인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투자계획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 사업장 시설 확충 검토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 확인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스마트팜 해당 시 한도 10억원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보조사업 중복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병행 여부 미확인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 확인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기금·보조 자금 분리 설계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632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유동성·상환력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유동비율 57% · 이자보상 2.4배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28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! 보완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E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선대출 승인·상환계획 수립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6" name="verdict"/>
          <p:cNvSpPr/>
          <p:nvPr/>
        </p:nvSpPr>
        <p:spPr>
          <a:xfrm>
            <a:off x="539496" y="6720840"/>
            <a:ext cx="6483096" cy="658368"/>
          </a:xfrm>
          <a:prstGeom prst="roundRect">
            <a:avLst>
              <a:gd name="adj" fmla="val 9722"/>
            </a:avLst>
          </a:prstGeom>
          <a:solidFill>
            <a:srgbClr val="F2F8F4"/>
          </a:solidFill>
          <a:ln w="15875">
            <a:solidFill>
              <a:srgbClr val="9FD0B4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685800" y="691286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D3A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685800" y="6912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의견</a:t>
            </a:r>
            <a:endParaRPr lang="en-US" sz="940" dirty="0"/>
          </a:p>
        </p:txBody>
      </p:sp>
      <p:sp>
        <p:nvSpPr>
          <p:cNvPr id="59" name="Text 54"/>
          <p:cNvSpPr txBox="1"/>
          <p:nvPr/>
        </p:nvSpPr>
        <p:spPr>
          <a:xfrm>
            <a:off x="1591056" y="6793992"/>
            <a:ext cx="5294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자격과 재무구조는 </a:t>
            </a:r>
            <a:r>
              <a:rPr lang="en-US" sz="1000" b="1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충족</a:t>
            </a: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투자계획이 확정되면 </a:t>
            </a:r>
            <a:r>
              <a:rPr lang="en-US" sz="10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시설 5억원</a:t>
            </a: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</a:t>
            </a:r>
            <a:r>
              <a:rPr lang="en-US" sz="1000" b="1" dirty="0">
                <a:solidFill>
                  <a:srgbClr val="1E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스마트팜 최대 10억원</a:t>
            </a: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신청을 검토할 수 있으며, 유동성을 보완하는 자금계획이 함께 필요합니다.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539496" y="7589520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16325C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539496" y="75895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Text 57"/>
          <p:cNvSpPr txBox="1"/>
          <p:nvPr/>
        </p:nvSpPr>
        <p:spPr>
          <a:xfrm>
            <a:off x="950976" y="757123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절차 및 상담 신청</a:t>
            </a:r>
            <a:endParaRPr lang="en-US" sz="1450" dirty="0"/>
          </a:p>
        </p:txBody>
      </p:sp>
      <p:sp>
        <p:nvSpPr>
          <p:cNvPr id="63" name="Text 58"/>
          <p:cNvSpPr txBox="1"/>
          <p:nvPr/>
        </p:nvSpPr>
        <p:spPr>
          <a:xfrm>
            <a:off x="3822192" y="75895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무료 · 회신 기한 10. 16.(금)</a:t>
            </a:r>
            <a:endParaRPr lang="en-US" sz="850" dirty="0"/>
          </a:p>
        </p:txBody>
      </p:sp>
      <p:sp>
        <p:nvSpPr>
          <p:cNvPr id="64" name="onestop-banner"/>
          <p:cNvSpPr/>
          <p:nvPr/>
        </p:nvSpPr>
        <p:spPr>
          <a:xfrm>
            <a:off x="539496" y="8028432"/>
            <a:ext cx="6483096" cy="2011680"/>
          </a:xfrm>
          <a:prstGeom prst="roundRect">
            <a:avLst>
              <a:gd name="adj" fmla="val 3182"/>
            </a:avLst>
          </a:prstGeom>
          <a:solidFill>
            <a:srgbClr val="16325C"/>
          </a:solidFill>
          <a:ln/>
        </p:spPr>
      </p:sp>
      <p:sp>
        <p:nvSpPr>
          <p:cNvPr id="65" name="Shape 60"/>
          <p:cNvSpPr/>
          <p:nvPr/>
        </p:nvSpPr>
        <p:spPr>
          <a:xfrm>
            <a:off x="676656" y="8183880"/>
            <a:ext cx="786384" cy="219456"/>
          </a:xfrm>
          <a:prstGeom prst="roundRect">
            <a:avLst>
              <a:gd name="adj" fmla="val 16667"/>
            </a:avLst>
          </a:prstGeom>
          <a:solidFill>
            <a:srgbClr val="8FE0B4"/>
          </a:solidFill>
          <a:ln/>
        </p:spPr>
      </p:sp>
      <p:sp>
        <p:nvSpPr>
          <p:cNvPr id="66" name="Text 61"/>
          <p:cNvSpPr txBox="1"/>
          <p:nvPr/>
        </p:nvSpPr>
        <p:spPr>
          <a:xfrm>
            <a:off x="676656" y="81838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kern="0" spc="100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ONE-STOP</a:t>
            </a:r>
            <a:endParaRPr lang="en-US" sz="780" dirty="0"/>
          </a:p>
        </p:txBody>
      </p:sp>
      <p:sp>
        <p:nvSpPr>
          <p:cNvPr id="67" name="Text 62"/>
          <p:cNvSpPr txBox="1"/>
          <p:nvPr/>
        </p:nvSpPr>
        <p:spPr>
          <a:xfrm>
            <a:off x="1563624" y="8156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상담부터 융자 실행까지, FARMSCOPE가 책임지고 진행합니다.</a:t>
            </a:r>
            <a:endParaRPr lang="en-US" sz="1100" dirty="0"/>
          </a:p>
        </p:txBody>
      </p:sp>
      <p:sp>
        <p:nvSpPr>
          <p:cNvPr id="68" name="step-01"/>
          <p:cNvSpPr/>
          <p:nvPr/>
        </p:nvSpPr>
        <p:spPr>
          <a:xfrm>
            <a:off x="676656" y="8558784"/>
            <a:ext cx="14356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69" name="Shape 64"/>
          <p:cNvSpPr/>
          <p:nvPr/>
        </p:nvSpPr>
        <p:spPr>
          <a:xfrm>
            <a:off x="768096" y="8659368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6325C"/>
          </a:solidFill>
          <a:ln/>
        </p:spPr>
      </p:sp>
      <p:sp>
        <p:nvSpPr>
          <p:cNvPr id="70" name="Text 65"/>
          <p:cNvSpPr txBox="1"/>
          <p:nvPr/>
        </p:nvSpPr>
        <p:spPr>
          <a:xfrm>
            <a:off x="768096" y="8659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71" name="Text 66"/>
          <p:cNvSpPr txBox="1"/>
          <p:nvPr/>
        </p:nvSpPr>
        <p:spPr>
          <a:xfrm>
            <a:off x="1078992" y="8631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상담</a:t>
            </a:r>
            <a:endParaRPr lang="en-US" sz="1020" dirty="0"/>
          </a:p>
        </p:txBody>
      </p:sp>
      <p:sp>
        <p:nvSpPr>
          <p:cNvPr id="72" name="Text 67"/>
          <p:cNvSpPr txBox="1"/>
          <p:nvPr/>
        </p:nvSpPr>
        <p:spPr>
          <a:xfrm>
            <a:off x="768096" y="89154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투자계획 확인</a:t>
            </a:r>
            <a:endParaRPr lang="en-US" sz="880" dirty="0"/>
          </a:p>
        </p:txBody>
      </p:sp>
      <p:sp>
        <p:nvSpPr>
          <p:cNvPr id="73" name="Text 68"/>
          <p:cNvSpPr txBox="1"/>
          <p:nvPr/>
        </p:nvSpPr>
        <p:spPr>
          <a:xfrm>
            <a:off x="768096" y="91257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10. 16.(금)</a:t>
            </a:r>
            <a:endParaRPr lang="en-US" sz="900" dirty="0"/>
          </a:p>
        </p:txBody>
      </p:sp>
      <p:sp>
        <p:nvSpPr>
          <p:cNvPr id="74" name="Text 69"/>
          <p:cNvSpPr txBox="1"/>
          <p:nvPr/>
        </p:nvSpPr>
        <p:spPr>
          <a:xfrm>
            <a:off x="2112264" y="8558784"/>
            <a:ext cx="155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E0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75" name="step-02"/>
          <p:cNvSpPr/>
          <p:nvPr/>
        </p:nvSpPr>
        <p:spPr>
          <a:xfrm>
            <a:off x="2267712" y="8558784"/>
            <a:ext cx="14356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76" name="Shape 71"/>
          <p:cNvSpPr/>
          <p:nvPr/>
        </p:nvSpPr>
        <p:spPr>
          <a:xfrm>
            <a:off x="2359152" y="8659368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6325C"/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2359152" y="8659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78" name="Text 73"/>
          <p:cNvSpPr txBox="1"/>
          <p:nvPr/>
        </p:nvSpPr>
        <p:spPr>
          <a:xfrm>
            <a:off x="2670048" y="8631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 확정</a:t>
            </a:r>
            <a:endParaRPr lang="en-US" sz="1020" dirty="0"/>
          </a:p>
        </p:txBody>
      </p:sp>
      <p:sp>
        <p:nvSpPr>
          <p:cNvPr id="79" name="Text 74"/>
          <p:cNvSpPr txBox="1"/>
          <p:nvPr/>
        </p:nvSpPr>
        <p:spPr>
          <a:xfrm>
            <a:off x="2359152" y="89154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자격·신용·담보 검토</a:t>
            </a:r>
            <a:endParaRPr lang="en-US" sz="880" dirty="0"/>
          </a:p>
        </p:txBody>
      </p:sp>
      <p:sp>
        <p:nvSpPr>
          <p:cNvPr id="80" name="Text 75"/>
          <p:cNvSpPr txBox="1"/>
          <p:nvPr/>
        </p:nvSpPr>
        <p:spPr>
          <a:xfrm>
            <a:off x="2359152" y="91257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 후 3일 내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3703320" y="8558784"/>
            <a:ext cx="155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E0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82" name="step-03"/>
          <p:cNvSpPr/>
          <p:nvPr/>
        </p:nvSpPr>
        <p:spPr>
          <a:xfrm>
            <a:off x="3858768" y="8558784"/>
            <a:ext cx="14356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83" name="Shape 78"/>
          <p:cNvSpPr/>
          <p:nvPr/>
        </p:nvSpPr>
        <p:spPr>
          <a:xfrm>
            <a:off x="3950208" y="8659368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6325C"/>
          </a:solidFill>
          <a:ln/>
        </p:spPr>
      </p:sp>
      <p:sp>
        <p:nvSpPr>
          <p:cNvPr id="84" name="Text 79"/>
          <p:cNvSpPr txBox="1"/>
          <p:nvPr/>
        </p:nvSpPr>
        <p:spPr>
          <a:xfrm>
            <a:off x="3950208" y="8659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85" name="Text 80"/>
          <p:cNvSpPr txBox="1"/>
          <p:nvPr/>
        </p:nvSpPr>
        <p:spPr>
          <a:xfrm>
            <a:off x="4261104" y="8631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 수립</a:t>
            </a:r>
            <a:endParaRPr lang="en-US" sz="1020" dirty="0"/>
          </a:p>
        </p:txBody>
      </p:sp>
      <p:sp>
        <p:nvSpPr>
          <p:cNvPr id="86" name="Text 81"/>
          <p:cNvSpPr txBox="1"/>
          <p:nvPr/>
        </p:nvSpPr>
        <p:spPr>
          <a:xfrm>
            <a:off x="3950208" y="89154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신청금액·자금구조</a:t>
            </a:r>
            <a:endParaRPr lang="en-US" sz="880" dirty="0"/>
          </a:p>
        </p:txBody>
      </p:sp>
      <p:sp>
        <p:nvSpPr>
          <p:cNvPr id="87" name="Text 82"/>
          <p:cNvSpPr txBox="1"/>
          <p:nvPr/>
        </p:nvSpPr>
        <p:spPr>
          <a:xfrm>
            <a:off x="3950208" y="91257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10. 23.(금)</a:t>
            </a:r>
            <a:endParaRPr lang="en-US" sz="900" dirty="0"/>
          </a:p>
        </p:txBody>
      </p:sp>
      <p:sp>
        <p:nvSpPr>
          <p:cNvPr id="88" name="Text 83"/>
          <p:cNvSpPr txBox="1"/>
          <p:nvPr/>
        </p:nvSpPr>
        <p:spPr>
          <a:xfrm>
            <a:off x="5294376" y="8558784"/>
            <a:ext cx="155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E0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89" name="step-04"/>
          <p:cNvSpPr/>
          <p:nvPr/>
        </p:nvSpPr>
        <p:spPr>
          <a:xfrm>
            <a:off x="5449824" y="8558784"/>
            <a:ext cx="14356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0" name="Shape 85"/>
          <p:cNvSpPr/>
          <p:nvPr/>
        </p:nvSpPr>
        <p:spPr>
          <a:xfrm>
            <a:off x="5541264" y="8659368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6325C"/>
          </a:solidFill>
          <a:ln/>
        </p:spPr>
      </p:sp>
      <p:sp>
        <p:nvSpPr>
          <p:cNvPr id="91" name="Text 86"/>
          <p:cNvSpPr txBox="1"/>
          <p:nvPr/>
        </p:nvSpPr>
        <p:spPr>
          <a:xfrm>
            <a:off x="5541264" y="8659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92" name="Text 87"/>
          <p:cNvSpPr txBox="1"/>
          <p:nvPr/>
        </p:nvSpPr>
        <p:spPr>
          <a:xfrm>
            <a:off x="5852160" y="8631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신청·심사 대응</a:t>
            </a:r>
            <a:endParaRPr lang="en-US" sz="1020" dirty="0"/>
          </a:p>
        </p:txBody>
      </p:sp>
      <p:sp>
        <p:nvSpPr>
          <p:cNvPr id="93" name="Text 88"/>
          <p:cNvSpPr txBox="1"/>
          <p:nvPr/>
        </p:nvSpPr>
        <p:spPr>
          <a:xfrm>
            <a:off x="5541264" y="89154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→ 융자 실행</a:t>
            </a:r>
            <a:endParaRPr lang="en-US" sz="880" dirty="0"/>
          </a:p>
        </p:txBody>
      </p:sp>
      <p:sp>
        <p:nvSpPr>
          <p:cNvPr id="94" name="Text 89"/>
          <p:cNvSpPr txBox="1"/>
          <p:nvPr/>
        </p:nvSpPr>
        <p:spPr>
          <a:xfrm>
            <a:off x="5541264" y="91257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10. 27.(화)</a:t>
            </a:r>
            <a:endParaRPr lang="en-US" sz="900" dirty="0"/>
          </a:p>
        </p:txBody>
      </p:sp>
      <p:sp>
        <p:nvSpPr>
          <p:cNvPr id="95" name="Shape 90"/>
          <p:cNvSpPr/>
          <p:nvPr/>
        </p:nvSpPr>
        <p:spPr>
          <a:xfrm>
            <a:off x="676656" y="9555480"/>
            <a:ext cx="6208776" cy="0"/>
          </a:xfrm>
          <a:prstGeom prst="line">
            <a:avLst/>
          </a:prstGeom>
          <a:noFill/>
          <a:ln w="9525">
            <a:solidFill>
              <a:srgbClr val="3B5680"/>
            </a:solidFill>
            <a:prstDash val="solid"/>
          </a:ln>
        </p:spPr>
      </p:sp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9674352"/>
            <a:ext cx="201168" cy="201168"/>
          </a:xfrm>
          <a:prstGeom prst="rect">
            <a:avLst/>
          </a:prstGeom>
        </p:spPr>
      </p:pic>
      <p:sp>
        <p:nvSpPr>
          <p:cNvPr id="97" name="Text 91"/>
          <p:cNvSpPr txBox="1"/>
          <p:nvPr/>
        </p:nvSpPr>
        <p:spPr>
          <a:xfrm>
            <a:off x="996696" y="963777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  </a:t>
            </a:r>
            <a:r>
              <a:rPr lang="en-US" sz="92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☎ </a:t>
            </a: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02-3147-4336</a:t>
            </a:r>
            <a:r>
              <a:rPr lang="en-US" sz="92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휴대폰 </a:t>
            </a: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010-2745-1484</a:t>
            </a:r>
            <a:r>
              <a:rPr lang="en-US" sz="92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(담당자 강수찬 이사 / 기업성장전략팀)</a:t>
            </a:r>
            <a:endParaRPr lang="en-US" sz="920" dirty="0"/>
          </a:p>
        </p:txBody>
      </p:sp>
      <p:sp>
        <p:nvSpPr>
          <p:cNvPr id="98" name="Shape 92"/>
          <p:cNvSpPr/>
          <p:nvPr/>
        </p:nvSpPr>
        <p:spPr>
          <a:xfrm>
            <a:off x="539496" y="10232136"/>
            <a:ext cx="6483096" cy="0"/>
          </a:xfrm>
          <a:prstGeom prst="line">
            <a:avLst/>
          </a:prstGeom>
          <a:noFill/>
          <a:ln w="9525">
            <a:solidFill>
              <a:srgbClr val="C9D3E0"/>
            </a:solidFill>
            <a:prstDash val="solid"/>
          </a:ln>
        </p:spPr>
      </p:sp>
      <p:sp>
        <p:nvSpPr>
          <p:cNvPr id="99" name="Text 93"/>
          <p:cNvSpPr txBox="1"/>
          <p:nvPr/>
        </p:nvSpPr>
        <p:spPr>
          <a:xfrm>
            <a:off x="539496" y="102778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공개자료 기반 사전검토 결과로, 지원기관의 선정·대출 실행을 보장하지 않습니다.</a:t>
            </a:r>
            <a:endParaRPr lang="en-US" sz="800" dirty="0"/>
          </a:p>
        </p:txBody>
      </p:sp>
      <p:sp>
        <p:nvSpPr>
          <p:cNvPr id="100" name="Text 94"/>
          <p:cNvSpPr txBox="1"/>
          <p:nvPr/>
        </p:nvSpPr>
        <p:spPr>
          <a:xfrm>
            <a:off x="5010912" y="10259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2026. 10. 7.   </a:t>
            </a:r>
            <a:r>
              <a:rPr lang="en-US" sz="1200" b="1" dirty="0">
                <a:solidFill>
                  <a:srgbClr val="163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FARMSCOPE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653</Words>
  <Application>Microsoft Office PowerPoint</Application>
  <PresentationFormat>사용자 지정</PresentationFormat>
  <Paragraphs>143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공문 템플릿 – 2027 경북 농어촌진흥기금 사전검토</dc:title>
  <dc:subject>PptxGenJS Presentation</dc:subject>
  <dc:creator>FARMSCOPE</dc:creator>
  <cp:lastModifiedBy>user</cp:lastModifiedBy>
  <cp:revision>1</cp:revision>
  <dcterms:created xsi:type="dcterms:W3CDTF">2026-10-07T04:32:52Z</dcterms:created>
  <dcterms:modified xsi:type="dcterms:W3CDTF">2026-10-07T04:34:48Z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/>
  </property>
</Properties>
</file>